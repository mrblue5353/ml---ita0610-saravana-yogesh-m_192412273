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21"/>
  </p:notesMasterIdLst>
  <p:sldIdLst>
    <p:sldId id="256" r:id="rId2"/>
    <p:sldId id="257" r:id="rId3"/>
    <p:sldId id="286" r:id="rId4"/>
    <p:sldId id="285" r:id="rId5"/>
    <p:sldId id="287" r:id="rId6"/>
    <p:sldId id="259" r:id="rId7"/>
    <p:sldId id="258" r:id="rId8"/>
    <p:sldId id="281" r:id="rId9"/>
    <p:sldId id="280" r:id="rId10"/>
    <p:sldId id="262" r:id="rId11"/>
    <p:sldId id="290" r:id="rId12"/>
    <p:sldId id="293" r:id="rId13"/>
    <p:sldId id="294" r:id="rId14"/>
    <p:sldId id="291" r:id="rId15"/>
    <p:sldId id="295" r:id="rId16"/>
    <p:sldId id="296" r:id="rId17"/>
    <p:sldId id="268" r:id="rId18"/>
    <p:sldId id="289" r:id="rId19"/>
    <p:sldId id="271" r:id="rId20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54" autoAdjust="0"/>
  </p:normalViewPr>
  <p:slideViewPr>
    <p:cSldViewPr snapToGrid="0">
      <p:cViewPr varScale="1">
        <p:scale>
          <a:sx n="78" d="100"/>
          <a:sy n="78" d="100"/>
        </p:scale>
        <p:origin x="1618" y="6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2" y="0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2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2" y="6513512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2FF80F5C-DED7-7DAA-84CE-235B9CAAF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D6E3D1F1-132E-7037-E830-756985400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E5A62F2C-D4F2-2175-9197-94DCEBDEB7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7978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99EDD78-4768-9B74-6556-54DFD0F5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>
            <a:extLst>
              <a:ext uri="{FF2B5EF4-FFF2-40B4-BE49-F238E27FC236}">
                <a16:creationId xmlns:a16="http://schemas.microsoft.com/office/drawing/2014/main" id="{9997A60E-160D-D015-0385-245BB469C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0" name="Google Shape;70;p4:notes">
            <a:extLst>
              <a:ext uri="{FF2B5EF4-FFF2-40B4-BE49-F238E27FC236}">
                <a16:creationId xmlns:a16="http://schemas.microsoft.com/office/drawing/2014/main" id="{74D23422-00B6-441F-DE87-03591CD13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71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A5AE5CE-D2A9-FAD8-ED1A-395846A2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>
            <a:extLst>
              <a:ext uri="{FF2B5EF4-FFF2-40B4-BE49-F238E27FC236}">
                <a16:creationId xmlns:a16="http://schemas.microsoft.com/office/drawing/2014/main" id="{47FE3B19-221C-C0D3-E58C-8006DEC75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0" name="Google Shape;70;p4:notes">
            <a:extLst>
              <a:ext uri="{FF2B5EF4-FFF2-40B4-BE49-F238E27FC236}">
                <a16:creationId xmlns:a16="http://schemas.microsoft.com/office/drawing/2014/main" id="{61F8709A-B343-3547-E47D-A5617E470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379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42AC6DC-81DC-49AD-D016-4A7F7B22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>
            <a:extLst>
              <a:ext uri="{FF2B5EF4-FFF2-40B4-BE49-F238E27FC236}">
                <a16:creationId xmlns:a16="http://schemas.microsoft.com/office/drawing/2014/main" id="{9EF9FA93-CEB0-9C9D-206D-25BB0E7AE1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0" name="Google Shape;70;p4:notes">
            <a:extLst>
              <a:ext uri="{FF2B5EF4-FFF2-40B4-BE49-F238E27FC236}">
                <a16:creationId xmlns:a16="http://schemas.microsoft.com/office/drawing/2014/main" id="{67593D43-9488-E951-D005-0C28EEFE6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6917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F7F0974-914E-5360-411C-F520F198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>
            <a:extLst>
              <a:ext uri="{FF2B5EF4-FFF2-40B4-BE49-F238E27FC236}">
                <a16:creationId xmlns:a16="http://schemas.microsoft.com/office/drawing/2014/main" id="{A7100CFA-A909-EBA0-7144-A1767AF29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0" name="Google Shape;70;p4:notes">
            <a:extLst>
              <a:ext uri="{FF2B5EF4-FFF2-40B4-BE49-F238E27FC236}">
                <a16:creationId xmlns:a16="http://schemas.microsoft.com/office/drawing/2014/main" id="{AC417048-1742-1F97-4F94-9CB932CD9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574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8383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06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9D15A326-5CD1-F822-1AB3-9972A6C05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>
            <a:extLst>
              <a:ext uri="{FF2B5EF4-FFF2-40B4-BE49-F238E27FC236}">
                <a16:creationId xmlns:a16="http://schemas.microsoft.com/office/drawing/2014/main" id="{7B355990-DFCC-3B69-390F-78EB224FA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3:notes">
            <a:extLst>
              <a:ext uri="{FF2B5EF4-FFF2-40B4-BE49-F238E27FC236}">
                <a16:creationId xmlns:a16="http://schemas.microsoft.com/office/drawing/2014/main" id="{0B002AFA-7C79-6F05-4002-B99ABC241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8827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1173162" y="2259012"/>
            <a:ext cx="6797675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173162" y="2259012"/>
            <a:ext cx="6797675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scikit-learn.org/" TargetMode="External"/><Relationship Id="rId7" Type="http://schemas.openxmlformats.org/officeDocument/2006/relationships/hyperlink" Target="https://ieeexplore.ieee.or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" TargetMode="External"/><Relationship Id="rId5" Type="http://schemas.openxmlformats.org/officeDocument/2006/relationships/hyperlink" Target="https://numpy.org/" TargetMode="External"/><Relationship Id="rId4" Type="http://schemas.openxmlformats.org/officeDocument/2006/relationships/hyperlink" Target="https://pandas.pydata.org/" TargetMode="External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292893" y="1309433"/>
            <a:ext cx="8605837" cy="234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6475" rIns="0" bIns="0" anchor="t" anchorCtr="0">
            <a:spAutoFit/>
          </a:bodyPr>
          <a:lstStyle/>
          <a:p>
            <a:pPr marL="365125" lvl="0">
              <a:buClr>
                <a:srgbClr val="C00000"/>
              </a:buClr>
              <a:buSzPts val="2800"/>
            </a:pPr>
            <a:br>
              <a:rPr lang="en-US" sz="18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800" dirty="0"/>
              <a:t>CAPSTONE PROJECT</a:t>
            </a:r>
            <a:br>
              <a:rPr lang="en-IN" sz="1800" dirty="0"/>
            </a:br>
            <a:br>
              <a:rPr lang="en-US" sz="18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800" dirty="0"/>
              <a:t>ML Insight Studio: An Intelligent Machine Learning Model Recommendation and Explainability Platform</a:t>
            </a:r>
            <a:br>
              <a:rPr lang="en-US" sz="1800" dirty="0"/>
            </a:br>
            <a:br>
              <a:rPr lang="en-US" sz="18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dirty="0"/>
              <a:t>ITA0610</a:t>
            </a:r>
            <a:r>
              <a:rPr lang="en-US" sz="18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Machine Learning</a:t>
            </a:r>
            <a:endParaRPr sz="1800" dirty="0"/>
          </a:p>
        </p:txBody>
      </p:sp>
      <p:sp>
        <p:nvSpPr>
          <p:cNvPr id="49" name="Google Shape;49;p7"/>
          <p:cNvSpPr txBox="1"/>
          <p:nvPr/>
        </p:nvSpPr>
        <p:spPr>
          <a:xfrm>
            <a:off x="5452268" y="3892594"/>
            <a:ext cx="3446462" cy="170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050" rIns="0" bIns="0" anchor="t" anchorCtr="0">
            <a:spAutoFit/>
          </a:bodyPr>
          <a:lstStyle/>
          <a:p>
            <a:pPr marL="3333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6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Vasantha Nithi D Y(192424137)</a:t>
            </a: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Saravana Yogesh M(192412273)</a:t>
            </a:r>
            <a:endParaRPr lang="en-US" sz="16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AIDS and ECE</a:t>
            </a:r>
            <a:b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dirty="0"/>
          </a:p>
        </p:txBody>
      </p:sp>
      <p:sp>
        <p:nvSpPr>
          <p:cNvPr id="50" name="Google Shape;50;p7"/>
          <p:cNvSpPr txBox="1"/>
          <p:nvPr/>
        </p:nvSpPr>
        <p:spPr>
          <a:xfrm>
            <a:off x="8326437" y="6411912"/>
            <a:ext cx="115887" cy="23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312" y="442912"/>
            <a:ext cx="7239000" cy="111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2B4F1C-9135-7913-F6F2-D0365D2687DB}"/>
              </a:ext>
            </a:extLst>
          </p:cNvPr>
          <p:cNvSpPr txBox="1"/>
          <p:nvPr/>
        </p:nvSpPr>
        <p:spPr>
          <a:xfrm>
            <a:off x="548532" y="3892594"/>
            <a:ext cx="3313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</a:t>
            </a:r>
          </a:p>
          <a:p>
            <a:endParaRPr lang="en-IN" sz="24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Dr </a:t>
            </a:r>
            <a:r>
              <a:rPr lang="en-US" sz="240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Madhusundar</a:t>
            </a:r>
            <a:r>
              <a:rPr lang="en-US" sz="24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</a:t>
            </a:r>
            <a:endParaRPr lang="en-IN" sz="24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499852" y="782059"/>
            <a:ext cx="397602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30287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57" name="Google Shape;57;p8"/>
          <p:cNvSpPr txBox="1"/>
          <p:nvPr/>
        </p:nvSpPr>
        <p:spPr>
          <a:xfrm>
            <a:off x="8359775" y="6453187"/>
            <a:ext cx="82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" name="Google Shape;58;p8"/>
          <p:cNvSpPr txBox="1"/>
          <p:nvPr/>
        </p:nvSpPr>
        <p:spPr>
          <a:xfrm>
            <a:off x="611187" y="3795712"/>
            <a:ext cx="792162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996DE7-5FA2-025E-EEEF-DA731D1EF30B}"/>
              </a:ext>
            </a:extLst>
          </p:cNvPr>
          <p:cNvSpPr txBox="1"/>
          <p:nvPr/>
        </p:nvSpPr>
        <p:spPr>
          <a:xfrm>
            <a:off x="951546" y="2330073"/>
            <a:ext cx="7240906" cy="2945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widely used for prediction and decision making.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right preprocessing techniques is often challenging.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preprocessing reduces model performance.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recommendation system can simplify this process.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A159F203-ACAD-5DE2-4799-ED978352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>
            <a:extLst>
              <a:ext uri="{FF2B5EF4-FFF2-40B4-BE49-F238E27FC236}">
                <a16:creationId xmlns:a16="http://schemas.microsoft.com/office/drawing/2014/main" id="{9043612F-A397-DE62-9EAA-D02227BC57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1419" y="941636"/>
            <a:ext cx="381491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30287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57" name="Google Shape;57;p8">
            <a:extLst>
              <a:ext uri="{FF2B5EF4-FFF2-40B4-BE49-F238E27FC236}">
                <a16:creationId xmlns:a16="http://schemas.microsoft.com/office/drawing/2014/main" id="{16EA7CC1-5A26-201B-5BC1-56DF4563E86C}"/>
              </a:ext>
            </a:extLst>
          </p:cNvPr>
          <p:cNvSpPr txBox="1"/>
          <p:nvPr/>
        </p:nvSpPr>
        <p:spPr>
          <a:xfrm>
            <a:off x="8359775" y="6453187"/>
            <a:ext cx="82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" name="Google Shape;58;p8">
            <a:extLst>
              <a:ext uri="{FF2B5EF4-FFF2-40B4-BE49-F238E27FC236}">
                <a16:creationId xmlns:a16="http://schemas.microsoft.com/office/drawing/2014/main" id="{E2EEE627-6393-111E-C46D-0B21CCC91917}"/>
              </a:ext>
            </a:extLst>
          </p:cNvPr>
          <p:cNvSpPr txBox="1"/>
          <p:nvPr/>
        </p:nvSpPr>
        <p:spPr>
          <a:xfrm>
            <a:off x="611187" y="3795712"/>
            <a:ext cx="792162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8">
            <a:extLst>
              <a:ext uri="{FF2B5EF4-FFF2-40B4-BE49-F238E27FC236}">
                <a16:creationId xmlns:a16="http://schemas.microsoft.com/office/drawing/2014/main" id="{B321CABE-F3C0-5B66-E409-6DA3276448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>
            <a:extLst>
              <a:ext uri="{FF2B5EF4-FFF2-40B4-BE49-F238E27FC236}">
                <a16:creationId xmlns:a16="http://schemas.microsoft.com/office/drawing/2014/main" id="{5CF4788F-BF80-4DC3-523D-F68C19539D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C1D69E-8E65-9EC5-0758-7AFE31034BF9}"/>
              </a:ext>
            </a:extLst>
          </p:cNvPr>
          <p:cNvSpPr txBox="1"/>
          <p:nvPr/>
        </p:nvSpPr>
        <p:spPr>
          <a:xfrm>
            <a:off x="593878" y="2184433"/>
            <a:ext cx="7921625" cy="3217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datasets require different preprocessing methods.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experimentation consumes time and effort.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recommendations improve user understanding.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automates analysis and model comparison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222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0AB23D5-10A3-4EFE-A4DB-36F717CE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>
            <a:extLst>
              <a:ext uri="{FF2B5EF4-FFF2-40B4-BE49-F238E27FC236}">
                <a16:creationId xmlns:a16="http://schemas.microsoft.com/office/drawing/2014/main" id="{103D2464-2ADD-ED81-FB37-06FEB60730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7925" y="778065"/>
            <a:ext cx="61849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LITERATURE SURVEY</a:t>
            </a:r>
            <a:endParaRPr dirty="0"/>
          </a:p>
        </p:txBody>
      </p:sp>
      <p:pic>
        <p:nvPicPr>
          <p:cNvPr id="73" name="Google Shape;73;p10">
            <a:extLst>
              <a:ext uri="{FF2B5EF4-FFF2-40B4-BE49-F238E27FC236}">
                <a16:creationId xmlns:a16="http://schemas.microsoft.com/office/drawing/2014/main" id="{79565F4B-82A8-13A7-8CF8-393AC6193C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0">
            <a:extLst>
              <a:ext uri="{FF2B5EF4-FFF2-40B4-BE49-F238E27FC236}">
                <a16:creationId xmlns:a16="http://schemas.microsoft.com/office/drawing/2014/main" id="{0CF2D0ED-000F-BF36-08EB-BD718EB760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D3B29E-33D2-CCAF-F5AD-333E4AC65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35" y="2111567"/>
            <a:ext cx="8086930" cy="444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0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BE0123E-9D14-B9C6-F549-2670B5A84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>
            <a:extLst>
              <a:ext uri="{FF2B5EF4-FFF2-40B4-BE49-F238E27FC236}">
                <a16:creationId xmlns:a16="http://schemas.microsoft.com/office/drawing/2014/main" id="{BDC81667-2DBA-B301-9B7A-51CE550C4F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7925" y="778065"/>
            <a:ext cx="61849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LITERATURE SURVEY</a:t>
            </a:r>
            <a:endParaRPr dirty="0"/>
          </a:p>
        </p:txBody>
      </p:sp>
      <p:pic>
        <p:nvPicPr>
          <p:cNvPr id="73" name="Google Shape;73;p10">
            <a:extLst>
              <a:ext uri="{FF2B5EF4-FFF2-40B4-BE49-F238E27FC236}">
                <a16:creationId xmlns:a16="http://schemas.microsoft.com/office/drawing/2014/main" id="{13A2153F-3EC3-8453-BF2C-F9D0822793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0">
            <a:extLst>
              <a:ext uri="{FF2B5EF4-FFF2-40B4-BE49-F238E27FC236}">
                <a16:creationId xmlns:a16="http://schemas.microsoft.com/office/drawing/2014/main" id="{CF09F0A9-B357-FF88-AF62-5CEE7C8B7C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343815-FBA1-4A94-6B00-01137F6CF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94" y="2020568"/>
            <a:ext cx="7773731" cy="439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5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177925" y="778065"/>
            <a:ext cx="61849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4ED2F8-56DD-7C3A-99FD-CC62CE6FA5F2}"/>
              </a:ext>
            </a:extLst>
          </p:cNvPr>
          <p:cNvSpPr txBox="1"/>
          <p:nvPr/>
        </p:nvSpPr>
        <p:spPr>
          <a:xfrm>
            <a:off x="859349" y="2373507"/>
            <a:ext cx="5557172" cy="308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preprocessing methods is difficult.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best ML model requires expertise.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provide limited explanations.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easily compare multiple models.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guided decision-support platform is needed.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2900516" y="759522"/>
            <a:ext cx="3175819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dirty="0"/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367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55F66C-BC01-3A19-A154-1BAB900F8FE9}"/>
              </a:ext>
            </a:extLst>
          </p:cNvPr>
          <p:cNvSpPr txBox="1"/>
          <p:nvPr/>
        </p:nvSpPr>
        <p:spPr>
          <a:xfrm>
            <a:off x="859905" y="2492662"/>
            <a:ext cx="6028008" cy="308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preprocessing recommendations.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user-controlled preprocessing.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explainability of model selection.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systems combine analysis and recommendation.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intelligent decision-support platform.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D2F809E-7D28-D36E-B0A6-CF3A5B693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optimized, time-window–based SQL queries for real-time analysis of water level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DDB66BA4-75C6-C26D-8BDE-8AF0CE32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>
            <a:extLst>
              <a:ext uri="{FF2B5EF4-FFF2-40B4-BE49-F238E27FC236}">
                <a16:creationId xmlns:a16="http://schemas.microsoft.com/office/drawing/2014/main" id="{57A01A2C-381F-DD71-5E9F-659707F803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7925" y="778065"/>
            <a:ext cx="61849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PROPOSED AIM</a:t>
            </a:r>
            <a:endParaRPr dirty="0"/>
          </a:p>
        </p:txBody>
      </p:sp>
      <p:pic>
        <p:nvPicPr>
          <p:cNvPr id="73" name="Google Shape;73;p10">
            <a:extLst>
              <a:ext uri="{FF2B5EF4-FFF2-40B4-BE49-F238E27FC236}">
                <a16:creationId xmlns:a16="http://schemas.microsoft.com/office/drawing/2014/main" id="{BC3837CA-7F5D-A4F5-8322-78840334C1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0">
            <a:extLst>
              <a:ext uri="{FF2B5EF4-FFF2-40B4-BE49-F238E27FC236}">
                <a16:creationId xmlns:a16="http://schemas.microsoft.com/office/drawing/2014/main" id="{1784F061-06BD-3466-F834-EFA52A6780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8DF999C-8CBE-B625-61DC-492580F4FF4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4451" y="2121090"/>
            <a:ext cx="7737987" cy="372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decision-support platform for machine learning model selection.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dataset analysis through automated preprocessing recommendations.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model selection by comparing multiple machine learning algorithms.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explainable insights that help users understand the recommended model.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104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B7E1212-1094-CF92-8AB1-39116B39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>
            <a:extLst>
              <a:ext uri="{FF2B5EF4-FFF2-40B4-BE49-F238E27FC236}">
                <a16:creationId xmlns:a16="http://schemas.microsoft.com/office/drawing/2014/main" id="{9D1494F2-3462-FAB9-BC3B-7CA7A21D5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7925" y="778065"/>
            <a:ext cx="61849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OBJECTIVE</a:t>
            </a:r>
            <a:endParaRPr dirty="0"/>
          </a:p>
        </p:txBody>
      </p:sp>
      <p:pic>
        <p:nvPicPr>
          <p:cNvPr id="73" name="Google Shape;73;p10">
            <a:extLst>
              <a:ext uri="{FF2B5EF4-FFF2-40B4-BE49-F238E27FC236}">
                <a16:creationId xmlns:a16="http://schemas.microsoft.com/office/drawing/2014/main" id="{7AF88BD0-F85C-DE3F-A118-1A2B7D0197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0">
            <a:extLst>
              <a:ext uri="{FF2B5EF4-FFF2-40B4-BE49-F238E27FC236}">
                <a16:creationId xmlns:a16="http://schemas.microsoft.com/office/drawing/2014/main" id="{8A8051A8-91EF-9177-1252-4F90FED2DE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744FB0-4A2B-6245-0112-4546AC5A8653}"/>
              </a:ext>
            </a:extLst>
          </p:cNvPr>
          <p:cNvSpPr txBox="1"/>
          <p:nvPr/>
        </p:nvSpPr>
        <p:spPr>
          <a:xfrm>
            <a:off x="630519" y="2121090"/>
            <a:ext cx="7882961" cy="37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analyse the uploaded dataset by detecting missing values, outliers, and duplicate records.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appropriate preprocessing techniques based on the dataset characteristics.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and evaluate multiple machine learning models for performance comparison.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the best model with explainable insights and generate a final report.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554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1655762" y="651973"/>
            <a:ext cx="5832475" cy="687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075" rIns="0" bIns="0" anchor="t" anchorCtr="0">
            <a:spAutoFit/>
          </a:bodyPr>
          <a:lstStyle/>
          <a:p>
            <a:pPr marL="12700" lvl="0">
              <a:buClr>
                <a:srgbClr val="C00000"/>
              </a:buClr>
              <a:buSzPts val="2400"/>
            </a:pPr>
            <a:r>
              <a:rPr lang="en-US" dirty="0"/>
              <a:t>PROPOSED METHODOLOGY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8359775" y="6481762"/>
            <a:ext cx="8255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650" y="414514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275" y="414514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DC6D63-49B5-943C-280E-76B1F090491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0102" y="2275760"/>
            <a:ext cx="7983794" cy="3360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uploads a structured dataset in CSV format to the system.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analysed to identify missing values, outliers, duplicate records, and feature correlations.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analysis, the system recommends appropriate preprocessing techniques.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reviews and applies the recommended preprocessing methods.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1655762" y="317676"/>
            <a:ext cx="5832475" cy="687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075" rIns="0" bIns="0" anchor="t" anchorCtr="0">
            <a:spAutoFit/>
          </a:bodyPr>
          <a:lstStyle/>
          <a:p>
            <a:pPr marL="12700" lvl="0">
              <a:buClr>
                <a:srgbClr val="C00000"/>
              </a:buClr>
              <a:buSzPts val="2400"/>
            </a:pPr>
            <a:r>
              <a:rPr lang="en-US" dirty="0"/>
              <a:t>PROPOSED METHODOLOGY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8359775" y="6481762"/>
            <a:ext cx="8255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650" y="414514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275" y="414514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EAABD5-12FD-BF09-7AE6-F1A6C421B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090" y="1536492"/>
            <a:ext cx="4557820" cy="518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12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50CB-C301-50FA-0358-C858D3157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800" y="865034"/>
            <a:ext cx="5922400" cy="738664"/>
          </a:xfrm>
        </p:spPr>
        <p:txBody>
          <a:bodyPr/>
          <a:lstStyle/>
          <a:p>
            <a:r>
              <a:rPr lang="en-IN" dirty="0"/>
              <a:t>Module 1: Intelligent ML Model Recommendation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52586-EDD6-E299-67ED-13E561C5B6C5}"/>
              </a:ext>
            </a:extLst>
          </p:cNvPr>
          <p:cNvSpPr txBox="1"/>
          <p:nvPr/>
        </p:nvSpPr>
        <p:spPr>
          <a:xfrm>
            <a:off x="673509" y="2299647"/>
            <a:ext cx="77969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Upload &amp; Preprocessing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Upload CSV, clean missing/duplicate data, and prepare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data types, target variable, and determine classification or regression.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Comparison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Train multiple ML algorithms and compare their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Recommendation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Select and recommend the most suitable model based on performance.</a:t>
            </a:r>
          </a:p>
          <a:p>
            <a:endParaRPr lang="en-IN" dirty="0"/>
          </a:p>
        </p:txBody>
      </p:sp>
      <p:pic>
        <p:nvPicPr>
          <p:cNvPr id="5" name="Google Shape;96;p13">
            <a:extLst>
              <a:ext uri="{FF2B5EF4-FFF2-40B4-BE49-F238E27FC236}">
                <a16:creationId xmlns:a16="http://schemas.microsoft.com/office/drawing/2014/main" id="{B6D4A14B-7639-2812-2160-96AEF3EC7D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275" y="414514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5;p13">
            <a:extLst>
              <a:ext uri="{FF2B5EF4-FFF2-40B4-BE49-F238E27FC236}">
                <a16:creationId xmlns:a16="http://schemas.microsoft.com/office/drawing/2014/main" id="{5400AF4C-C7A3-218F-6F4F-DA278DA855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650" y="503002"/>
            <a:ext cx="107950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196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2619-A5BE-76D4-3730-B21A55D21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155" y="901360"/>
            <a:ext cx="5481689" cy="369332"/>
          </a:xfrm>
        </p:spPr>
        <p:txBody>
          <a:bodyPr/>
          <a:lstStyle/>
          <a:p>
            <a:r>
              <a:rPr lang="en-IN" dirty="0"/>
              <a:t>Module 2: Explainable AI &amp; Model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47A5E-D404-923E-A5D7-EB863B7FE127}"/>
              </a:ext>
            </a:extLst>
          </p:cNvPr>
          <p:cNvSpPr txBox="1"/>
          <p:nvPr/>
        </p:nvSpPr>
        <p:spPr>
          <a:xfrm>
            <a:off x="644013" y="2271251"/>
            <a:ext cx="785597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Generation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the selected model to generate predictions.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the features that most influence predictions.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Explanation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Apply SHAP/LIME to explain model decisions.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Insights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 explanations through graphs and provide easy-to-understand insights.</a:t>
            </a:r>
          </a:p>
          <a:p>
            <a:endParaRPr lang="en-IN" dirty="0"/>
          </a:p>
        </p:txBody>
      </p:sp>
      <p:pic>
        <p:nvPicPr>
          <p:cNvPr id="5" name="Google Shape;96;p13">
            <a:extLst>
              <a:ext uri="{FF2B5EF4-FFF2-40B4-BE49-F238E27FC236}">
                <a16:creationId xmlns:a16="http://schemas.microsoft.com/office/drawing/2014/main" id="{ACCFC448-6FE5-2936-5730-2A7B81C2D4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75" y="414514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5;p13">
            <a:extLst>
              <a:ext uri="{FF2B5EF4-FFF2-40B4-BE49-F238E27FC236}">
                <a16:creationId xmlns:a16="http://schemas.microsoft.com/office/drawing/2014/main" id="{B470884F-BAB1-0D4B-761B-687C273867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1644" y="471072"/>
            <a:ext cx="107950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4074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C8254-CE10-36DA-6861-2F35EE8F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0607" y="685916"/>
            <a:ext cx="4116795" cy="800219"/>
          </a:xfrm>
        </p:spPr>
        <p:txBody>
          <a:bodyPr/>
          <a:lstStyle/>
          <a:p>
            <a:r>
              <a:rPr lang="en-US" sz="2600" dirty="0"/>
              <a:t>RESULT and DISCUSSION</a:t>
            </a:r>
            <a:endParaRPr lang="en-IN" sz="2600" dirty="0"/>
          </a:p>
        </p:txBody>
      </p:sp>
      <p:pic>
        <p:nvPicPr>
          <p:cNvPr id="5" name="Google Shape;96;p13">
            <a:extLst>
              <a:ext uri="{FF2B5EF4-FFF2-40B4-BE49-F238E27FC236}">
                <a16:creationId xmlns:a16="http://schemas.microsoft.com/office/drawing/2014/main" id="{07705FC8-6680-8075-18B3-F4D7195A592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939" y="414514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13">
            <a:extLst>
              <a:ext uri="{FF2B5EF4-FFF2-40B4-BE49-F238E27FC236}">
                <a16:creationId xmlns:a16="http://schemas.microsoft.com/office/drawing/2014/main" id="{24FF7F3B-9E51-258C-34C0-F93E5CF03F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2138" y="400041"/>
            <a:ext cx="107950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3464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9504-D4B5-FDFD-55AB-6E457FEEB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045" y="727382"/>
            <a:ext cx="4309909" cy="369332"/>
          </a:xfrm>
        </p:spPr>
        <p:txBody>
          <a:bodyPr/>
          <a:lstStyle/>
          <a:p>
            <a:r>
              <a:rPr lang="en-US" dirty="0"/>
              <a:t>IMPLEMENTATION VIDEO</a:t>
            </a:r>
            <a:endParaRPr lang="en-IN" dirty="0"/>
          </a:p>
        </p:txBody>
      </p:sp>
      <p:pic>
        <p:nvPicPr>
          <p:cNvPr id="4" name="Google Shape;96;p13">
            <a:extLst>
              <a:ext uri="{FF2B5EF4-FFF2-40B4-BE49-F238E27FC236}">
                <a16:creationId xmlns:a16="http://schemas.microsoft.com/office/drawing/2014/main" id="{8797077A-83B1-6181-3A42-AAF2858D4FB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75" y="414514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5;p13">
            <a:extLst>
              <a:ext uri="{FF2B5EF4-FFF2-40B4-BE49-F238E27FC236}">
                <a16:creationId xmlns:a16="http://schemas.microsoft.com/office/drawing/2014/main" id="{462FB2D5-3ACD-6F86-12C1-4588BA409E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650" y="414514"/>
            <a:ext cx="107950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4777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6642F-E18B-280B-6C24-3F56FE3D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161" y="756879"/>
            <a:ext cx="3241675" cy="369332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82E9A-4AA0-DDDF-924A-EDDB8B15AFDA}"/>
              </a:ext>
            </a:extLst>
          </p:cNvPr>
          <p:cNvSpPr txBox="1"/>
          <p:nvPr/>
        </p:nvSpPr>
        <p:spPr>
          <a:xfrm>
            <a:off x="693173" y="1809135"/>
            <a:ext cx="779698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Insight Studio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machine learning by automatically recommending the most suitable model for a given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need for users to have advanced knowledge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algorithms, preprocessing, and model selection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module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users understand model predictions through feature importance and visual explanations.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platform provides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user-friendly, intelligent, and transparent ML solution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automated model recommendation with explainability.</a:t>
            </a:r>
          </a:p>
          <a:p>
            <a:endParaRPr lang="en-IN" dirty="0"/>
          </a:p>
        </p:txBody>
      </p:sp>
      <p:pic>
        <p:nvPicPr>
          <p:cNvPr id="5" name="Google Shape;96;p13">
            <a:extLst>
              <a:ext uri="{FF2B5EF4-FFF2-40B4-BE49-F238E27FC236}">
                <a16:creationId xmlns:a16="http://schemas.microsoft.com/office/drawing/2014/main" id="{108DBAFD-BAC9-C305-2F35-D780B7C73BE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7601" y="198205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5;p13">
            <a:extLst>
              <a:ext uri="{FF2B5EF4-FFF2-40B4-BE49-F238E27FC236}">
                <a16:creationId xmlns:a16="http://schemas.microsoft.com/office/drawing/2014/main" id="{2B0E3ADF-2469-729C-1025-F51057020D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4321" y="198204"/>
            <a:ext cx="107950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9382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2378997" y="807166"/>
            <a:ext cx="4386006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sp>
        <p:nvSpPr>
          <p:cNvPr id="141" name="Google Shape;141;p19"/>
          <p:cNvSpPr txBox="1">
            <a:spLocks noGrp="1"/>
          </p:cNvSpPr>
          <p:nvPr>
            <p:ph type="body" idx="1"/>
          </p:nvPr>
        </p:nvSpPr>
        <p:spPr>
          <a:xfrm>
            <a:off x="630826" y="2209323"/>
            <a:ext cx="7882348" cy="3459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>
                <a:solidFill>
                  <a:schemeClr val="tx1"/>
                </a:solidFill>
              </a:rPr>
              <a:t>Seo, J., &amp; Li, X. (2024). SEE-Net: An Explainable Neural Network Framework. Scientific Reports, Nature. .</a:t>
            </a: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endParaRPr lang="en-IN" sz="800" b="0" dirty="0">
              <a:solidFill>
                <a:schemeClr val="tx1"/>
              </a:solidFill>
            </a:endParaRP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 err="1">
                <a:solidFill>
                  <a:schemeClr val="tx1"/>
                </a:solidFill>
              </a:rPr>
              <a:t>Bozorgpanah</a:t>
            </a:r>
            <a:r>
              <a:rPr lang="en-IN" sz="2000" b="0" dirty="0">
                <a:solidFill>
                  <a:schemeClr val="tx1"/>
                </a:solidFill>
              </a:rPr>
              <a:t>, A., &amp; Torra, V. (2024). Explainable Machine Learning with Privacy Preservation. Springer Nature. .</a:t>
            </a: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endParaRPr lang="en-IN" sz="800" b="0" dirty="0">
              <a:solidFill>
                <a:schemeClr val="tx1"/>
              </a:solidFill>
            </a:endParaRP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 err="1">
                <a:solidFill>
                  <a:schemeClr val="tx1"/>
                </a:solidFill>
              </a:rPr>
              <a:t>Atzmueller</a:t>
            </a:r>
            <a:r>
              <a:rPr lang="en-IN" sz="2000" b="0" dirty="0">
                <a:solidFill>
                  <a:schemeClr val="tx1"/>
                </a:solidFill>
              </a:rPr>
              <a:t>, M., et al. (2024). Explainable and Interpretable Machine Learning. Data Mining and Knowledge Discovery, Springer. </a:t>
            </a:r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7960" y="274789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322" y="301624"/>
            <a:ext cx="13620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324D592-14FC-5605-1A91-3C244BA9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BA19A63E-616F-7A89-6F87-49FB79A066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2900" y="868671"/>
            <a:ext cx="61849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C4778936-B6CA-4939-8E5F-56AE530D9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4176" y="2211696"/>
            <a:ext cx="7882348" cy="337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>
                <a:solidFill>
                  <a:schemeClr val="tx1"/>
                </a:solidFill>
              </a:rPr>
              <a:t>Scikit-learn Documentation – </a:t>
            </a:r>
            <a:r>
              <a:rPr lang="en-IN" sz="2000" b="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</a:t>
            </a:r>
            <a:r>
              <a:rPr lang="en-IN" sz="2000" b="0" dirty="0">
                <a:solidFill>
                  <a:schemeClr val="tx1"/>
                </a:solidFill>
              </a:rPr>
              <a:t> Pandas</a:t>
            </a: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endParaRPr lang="en-IN" sz="800" b="0" dirty="0">
              <a:solidFill>
                <a:schemeClr val="tx1"/>
              </a:solidFill>
            </a:endParaRP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>
                <a:solidFill>
                  <a:schemeClr val="tx1"/>
                </a:solidFill>
              </a:rPr>
              <a:t>Documentation – </a:t>
            </a:r>
            <a:r>
              <a:rPr lang="en-IN" sz="2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https://pandas.pydata.org</a:t>
            </a:r>
            <a:r>
              <a:rPr lang="en-IN" sz="2000" b="0" dirty="0">
                <a:solidFill>
                  <a:schemeClr val="tx1"/>
                </a:solidFill>
              </a:rPr>
              <a:t> NumPy</a:t>
            </a: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endParaRPr lang="en-IN" sz="800" b="0" dirty="0">
              <a:solidFill>
                <a:schemeClr val="tx1"/>
              </a:solidFill>
            </a:endParaRP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>
                <a:solidFill>
                  <a:schemeClr val="tx1"/>
                </a:solidFill>
              </a:rPr>
              <a:t>Documentation – </a:t>
            </a:r>
            <a:r>
              <a:rPr lang="en-IN" sz="2000" b="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https://numpy.org</a:t>
            </a:r>
            <a:r>
              <a:rPr lang="en-IN" sz="2000" b="0" dirty="0">
                <a:solidFill>
                  <a:schemeClr val="tx1"/>
                </a:solidFill>
              </a:rPr>
              <a:t> Kaggle Datasets –</a:t>
            </a:r>
            <a:r>
              <a:rPr lang="en-IN" sz="2000" b="0" dirty="0">
                <a:solidFill>
                  <a:srgbClr val="0000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IN" sz="2000" b="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://www.kaggle.com/datasets</a:t>
            </a:r>
            <a:r>
              <a:rPr lang="en-IN" sz="2000" b="0" dirty="0">
                <a:solidFill>
                  <a:schemeClr val="tx1"/>
                </a:solidFill>
              </a:rPr>
              <a:t> </a:t>
            </a: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endParaRPr lang="en-IN" sz="800" b="0" dirty="0">
              <a:solidFill>
                <a:schemeClr val="tx1"/>
              </a:solidFill>
            </a:endParaRP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0" dirty="0">
                <a:solidFill>
                  <a:schemeClr val="tx1"/>
                </a:solidFill>
              </a:rPr>
              <a:t>IEEE Xplore Digital Library –</a:t>
            </a:r>
            <a:r>
              <a:rPr lang="en-IN" sz="2000" b="0" dirty="0">
                <a:solidFill>
                  <a:srgbClr val="0000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IN" sz="2000" b="0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://ieeexplore.ieee.org</a:t>
            </a:r>
            <a:endParaRPr lang="en-IN" sz="2000" b="0" dirty="0">
              <a:solidFill>
                <a:schemeClr val="tx1"/>
              </a:solidFill>
            </a:endParaRPr>
          </a:p>
        </p:txBody>
      </p:sp>
      <p:pic>
        <p:nvPicPr>
          <p:cNvPr id="142" name="Google Shape;142;p19">
            <a:extLst>
              <a:ext uri="{FF2B5EF4-FFF2-40B4-BE49-F238E27FC236}">
                <a16:creationId xmlns:a16="http://schemas.microsoft.com/office/drawing/2014/main" id="{81EE9515-8BED-B589-0EC9-3F5588E829D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97122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>
            <a:extLst>
              <a:ext uri="{FF2B5EF4-FFF2-40B4-BE49-F238E27FC236}">
                <a16:creationId xmlns:a16="http://schemas.microsoft.com/office/drawing/2014/main" id="{DAEC17E9-9ABF-1473-3FDB-06361EE0724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6433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title"/>
          </p:nvPr>
        </p:nvSpPr>
        <p:spPr>
          <a:xfrm>
            <a:off x="3367087" y="3114620"/>
            <a:ext cx="218122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dirty="0"/>
          </a:p>
        </p:txBody>
      </p:sp>
      <p:pic>
        <p:nvPicPr>
          <p:cNvPr id="169" name="Google Shape;16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9508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9508"/>
            <a:ext cx="13620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1868</TotalTime>
  <Words>708</Words>
  <Application>Microsoft Office PowerPoint</Application>
  <PresentationFormat>On-screen Show (4:3)</PresentationFormat>
  <Paragraphs>114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 CAPSTONE PROJECT  ML Insight Studio: An Intelligent Machine Learning Model Recommendation and Explainability Platform  ITA0610 – Machine Learning</vt:lpstr>
      <vt:lpstr>INTRODUCTION</vt:lpstr>
      <vt:lpstr>INTRODUCTION</vt:lpstr>
      <vt:lpstr>LITERATURE SURVEY</vt:lpstr>
      <vt:lpstr>LITERATURE SURVEY</vt:lpstr>
      <vt:lpstr>PROBLEM STATEMENT</vt:lpstr>
      <vt:lpstr>RESEARCH GAP</vt:lpstr>
      <vt:lpstr>PROPOSED AIM</vt:lpstr>
      <vt:lpstr>PROPOSED OBJECTIVE</vt:lpstr>
      <vt:lpstr>PROPOSED METHODOLOGY</vt:lpstr>
      <vt:lpstr>PROPOSED METHODOLOGY</vt:lpstr>
      <vt:lpstr>Module 1: Intelligent ML Model Recommendation</vt:lpstr>
      <vt:lpstr>Module 2: Explainable AI &amp; Model Insights</vt:lpstr>
      <vt:lpstr>RESULT and DISCUSSION</vt:lpstr>
      <vt:lpstr>IMPLEMENTATION VIDEO</vt:lpstr>
      <vt:lpstr>CONCLUSION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VASANTH</dc:creator>
  <cp:lastModifiedBy>saravana Yogesh</cp:lastModifiedBy>
  <cp:revision>27</cp:revision>
  <dcterms:modified xsi:type="dcterms:W3CDTF">2026-08-12T05:53:34Z</dcterms:modified>
</cp:coreProperties>
</file>